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unnel Display"/>
      <p:regular r:id="rId201314"/>
    </p:embeddedFont>
    <p:embeddedFont>
      <p:font typeface="Funnel Display Bold"/>
      <p:regular r:id="rId201315"/>
    </p:embeddedFont>
    <p:embeddedFont>
      <p:font typeface="Funnel Display SemiBold"/>
      <p:regular r:id="rId201316"/>
    </p:embeddedFont>
    <p:embeddedFont>
      <p:font typeface="Funnel Sans Bold"/>
      <p:regular r:id="rId201317"/>
    </p:embeddedFont>
    <p:embeddedFont>
      <p:font typeface="Funnel Sans"/>
      <p:regular r:id="rId201318"/>
    </p:embeddedFont>
    <p:embeddedFont>
      <p:font typeface="Funnel Sans Semi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562721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HealthDocs-RAG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3448546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AI-Powered Healthcare Document Question Answering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8086" y="3992066"/>
            <a:ext cx="3356486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7740" y="4051895"/>
            <a:ext cx="372676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RETRIEVAL-AUGMENTED GENERATION (RAG)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3945" y="493216"/>
            <a:ext cx="4403516" cy="58715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826889"/>
            <a:ext cx="6223638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Problem</a:t>
            </a:r>
            <a:endParaRPr lang="en-US" sz="3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535013"/>
            <a:ext cx="6223638" cy="9554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1604" y="1722338"/>
            <a:ext cx="5772799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Lengthy Documents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61604" y="2055019"/>
            <a:ext cx="5772799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Healthcare documents are lengthy and difficult to search through manually.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2632472"/>
            <a:ext cx="6223638" cy="95547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1604" y="2819797"/>
            <a:ext cx="5772799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Time-Consuming Retrieval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61604" y="3152477"/>
            <a:ext cx="5772799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Manual information retrieval is slow and inefficient for clinical and research use.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3729930"/>
            <a:ext cx="6223638" cy="12036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1604" y="3917255"/>
            <a:ext cx="5772799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Poor Keyword Search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961604" y="4249936"/>
            <a:ext cx="5772799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Keyword-based search lacks semantic understanding of medical terminology and context.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086" y="5075535"/>
            <a:ext cx="6223638" cy="95547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1604" y="5262860"/>
            <a:ext cx="5772799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No Natural Language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961604" y="5595541"/>
            <a:ext cx="5772799" cy="24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Users need intuitive, natural language interaction rather than rigid query syntax.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808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Our Solution: HealthDocs-RAG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673721"/>
            <a:ext cx="5397762" cy="7979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7510" y="2671068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Upload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97510" y="3084016"/>
            <a:ext cx="499891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Healthcare documents processed automatically upon submission.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1673721"/>
            <a:ext cx="5397762" cy="7979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95272" y="2671068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295272" y="3084016"/>
            <a:ext cx="499891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System learns document content and meaning through embeddings.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3921820"/>
            <a:ext cx="5397762" cy="7979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7510" y="4919166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Ask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97510" y="5332115"/>
            <a:ext cx="4998912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Users query the system in plain natural language.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921820"/>
            <a:ext cx="5397762" cy="79791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95272" y="4919166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Answer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95272" y="5332115"/>
            <a:ext cx="4998912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Intelligent, context-grounded responses delivered instantly.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366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spc="-28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What is Retrieval-Augmented Generation?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529979"/>
            <a:ext cx="6862690" cy="25752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3043" y="4485914"/>
            <a:ext cx="1035084" cy="18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spc="-32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Answer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38554" y="4485914"/>
            <a:ext cx="1035083" cy="18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spc="-32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LLM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641155" y="4485914"/>
            <a:ext cx="1035083" cy="18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spc="-32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Context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343756" y="4485914"/>
            <a:ext cx="1035084" cy="18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spc="-32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Retriever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17998" y="4485914"/>
            <a:ext cx="1035084" cy="187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spc="-32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Question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08043" y="1511895"/>
            <a:ext cx="406687" cy="406698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83745" y="1555700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578536" y="1574006"/>
            <a:ext cx="2921324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Retrieval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578536" y="2003723"/>
            <a:ext cx="2921324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Find the most relevant information from uploaded documents using semantic similarity search.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8043" y="3158232"/>
            <a:ext cx="406687" cy="406698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83745" y="3202037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578536" y="3220343"/>
            <a:ext cx="2921324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Augmentation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578536" y="3650059"/>
            <a:ext cx="2921324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Provide the retrieved context to the language model as grounding evidence.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08043" y="4804569"/>
            <a:ext cx="406687" cy="406698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83745" y="4848374"/>
            <a:ext cx="255184" cy="318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578536" y="4866680"/>
            <a:ext cx="2921324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Generation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578536" y="5296396"/>
            <a:ext cx="2921324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LLM generates accurate, context-grounded answers based on retrieved passages.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8800"/>
            <a:ext cx="10795524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spc="-26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535" y="1298873"/>
            <a:ext cx="10706527" cy="46170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2944" y="5049293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43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Embeddings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62944" y="3980522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43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Chunking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62944" y="2922546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43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Loader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2944" y="1853775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43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Upload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8086" y="6064052"/>
            <a:ext cx="1140510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spc="-2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Each stage transforms raw healthcare documents into precise, context-grounded answers through a fully automated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86" y="501551"/>
            <a:ext cx="4391014" cy="5854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62670"/>
            <a:ext cx="622363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spc="-28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Workflow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69971" y="1524198"/>
            <a:ext cx="361544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69971" y="1805980"/>
            <a:ext cx="2891360" cy="254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7" name="Text 4"/>
          <p:cNvSpPr/>
          <p:nvPr/>
        </p:nvSpPr>
        <p:spPr>
          <a:xfrm>
            <a:off x="5269971" y="1947168"/>
            <a:ext cx="2891360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User uploads PDF document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269971" y="2512417"/>
            <a:ext cx="361544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69971" y="2794198"/>
            <a:ext cx="2891360" cy="254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0" name="Text 7"/>
          <p:cNvSpPr/>
          <p:nvPr/>
        </p:nvSpPr>
        <p:spPr>
          <a:xfrm>
            <a:off x="5269971" y="2935387"/>
            <a:ext cx="2891360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Extract text from PDF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69971" y="3500636"/>
            <a:ext cx="361544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69971" y="3782417"/>
            <a:ext cx="2891360" cy="254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3" name="Text 10"/>
          <p:cNvSpPr/>
          <p:nvPr/>
        </p:nvSpPr>
        <p:spPr>
          <a:xfrm>
            <a:off x="5269971" y="3923605"/>
            <a:ext cx="2891360" cy="531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Split text into semantic chunks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269971" y="4754761"/>
            <a:ext cx="361544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269971" y="5036542"/>
            <a:ext cx="2891360" cy="254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6" name="Text 13"/>
          <p:cNvSpPr/>
          <p:nvPr/>
        </p:nvSpPr>
        <p:spPr>
          <a:xfrm>
            <a:off x="5269971" y="5177730"/>
            <a:ext cx="2891360" cy="531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Generate embeddings for each chunk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608599" y="1524198"/>
            <a:ext cx="361544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608599" y="1805980"/>
            <a:ext cx="2891360" cy="254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19" name="Text 16"/>
          <p:cNvSpPr/>
          <p:nvPr/>
        </p:nvSpPr>
        <p:spPr>
          <a:xfrm>
            <a:off x="8608599" y="1947168"/>
            <a:ext cx="2891360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Store vectors in FAISS index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608599" y="2512417"/>
            <a:ext cx="361544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608599" y="2794198"/>
            <a:ext cx="2891360" cy="254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22" name="Text 19"/>
          <p:cNvSpPr/>
          <p:nvPr/>
        </p:nvSpPr>
        <p:spPr>
          <a:xfrm>
            <a:off x="8608599" y="2935387"/>
            <a:ext cx="2891360" cy="531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User submits natural language question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8608599" y="3766542"/>
            <a:ext cx="361544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608599" y="4048323"/>
            <a:ext cx="2891360" cy="254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25" name="Text 22"/>
          <p:cNvSpPr/>
          <p:nvPr/>
        </p:nvSpPr>
        <p:spPr>
          <a:xfrm>
            <a:off x="8608599" y="4189512"/>
            <a:ext cx="2891360" cy="531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Retrieve top-k relevant chunks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8608599" y="5020667"/>
            <a:ext cx="361544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Display Light" pitchFamily="34" charset="0"/>
                <a:ea typeface="Funnel Display Light" pitchFamily="34" charset="-122"/>
                <a:cs typeface="Funnel Display Light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608599" y="5302448"/>
            <a:ext cx="2891360" cy="2540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28" name="Text 25"/>
          <p:cNvSpPr/>
          <p:nvPr/>
        </p:nvSpPr>
        <p:spPr>
          <a:xfrm>
            <a:off x="8608599" y="5443637"/>
            <a:ext cx="2891360" cy="531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Generate context-based answer via LLM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9161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spc="-28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Technologies Used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448395"/>
            <a:ext cx="451930" cy="4519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105124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Python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98086" y="2469257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Core programming language powering the entire system.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8239" y="1448395"/>
            <a:ext cx="451930" cy="4519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239" y="2105124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Streamlit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6198239" y="2469257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web interface for seamless user experience.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072507"/>
            <a:ext cx="451930" cy="4519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086" y="3729236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LangChain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698086" y="4093369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RAG pipeline orchestration and component integration.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8239" y="3072507"/>
            <a:ext cx="451930" cy="4519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8239" y="3729236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OpenAI / LLM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6198239" y="4093369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Large language model for intelligent answer generation.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4696619"/>
            <a:ext cx="451930" cy="4519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8086" y="5353348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FAISS + Embeddings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698086" y="5717480"/>
            <a:ext cx="52953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Semantic vector representation and similarity search index.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8239" y="4696619"/>
            <a:ext cx="451930" cy="45194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98239" y="5353348"/>
            <a:ext cx="529537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PyPDF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6198239" y="5717480"/>
            <a:ext cx="5295371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PDF text extraction and environment configuration via python-dotenv.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4973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spc="-28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Features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71588"/>
            <a:ext cx="3491817" cy="34919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7170" y="1536502"/>
            <a:ext cx="2178293" cy="2612628"/>
          </a:xfrm>
          <a:prstGeom prst="roundRect">
            <a:avLst>
              <a:gd name="adj" fmla="val 3486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24292" y="1723628"/>
            <a:ext cx="542316" cy="542330"/>
          </a:xfrm>
          <a:prstGeom prst="ellipse">
            <a:avLst/>
          </a:prstGeom>
          <a:solidFill>
            <a:srgbClr val="3371A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73414" y="1872754"/>
            <a:ext cx="243973" cy="2439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24292" y="2429768"/>
            <a:ext cx="1804049" cy="531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Document Upload &amp; Processing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824292" y="3125391"/>
            <a:ext cx="1804049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Healthcare PDF upload with intelligent text extraction.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979269" y="1536502"/>
            <a:ext cx="2178392" cy="2612628"/>
          </a:xfrm>
          <a:prstGeom prst="roundRect">
            <a:avLst>
              <a:gd name="adj" fmla="val 3485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166391" y="1723628"/>
            <a:ext cx="542316" cy="542330"/>
          </a:xfrm>
          <a:prstGeom prst="ellipse">
            <a:avLst/>
          </a:prstGeom>
          <a:solidFill>
            <a:srgbClr val="3371A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513" y="1872754"/>
            <a:ext cx="243973" cy="2439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66391" y="2429768"/>
            <a:ext cx="1804149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Semantic Search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7166391" y="2859484"/>
            <a:ext cx="1804149" cy="1102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Vector-based semantic search with context-grounded AI responses.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9321468" y="1536502"/>
            <a:ext cx="2178293" cy="2612628"/>
          </a:xfrm>
          <a:prstGeom prst="roundRect">
            <a:avLst>
              <a:gd name="adj" fmla="val 3486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508589" y="1723628"/>
            <a:ext cx="542316" cy="542330"/>
          </a:xfrm>
          <a:prstGeom prst="ellipse">
            <a:avLst/>
          </a:prstGeom>
          <a:solidFill>
            <a:srgbClr val="3371A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7712" y="1872754"/>
            <a:ext cx="243973" cy="24397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08589" y="2429768"/>
            <a:ext cx="1804049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Fast &amp; Intuitive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9508589" y="2859484"/>
            <a:ext cx="1804049" cy="1102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Simple Streamlit interface with fast retrieval and answer generation.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637170" y="4312940"/>
            <a:ext cx="6862591" cy="1785739"/>
          </a:xfrm>
          <a:prstGeom prst="roundRect">
            <a:avLst>
              <a:gd name="adj" fmla="val 4252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24292" y="4500066"/>
            <a:ext cx="542316" cy="542330"/>
          </a:xfrm>
          <a:prstGeom prst="ellipse">
            <a:avLst/>
          </a:prstGeom>
          <a:solidFill>
            <a:srgbClr val="3371A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3414" y="4649192"/>
            <a:ext cx="243973" cy="24397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24292" y="5206206"/>
            <a:ext cx="6488347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28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Educational Focus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4824292" y="5635923"/>
            <a:ext cx="6488347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Designed for educational and document-analysis purposes.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" y="495201"/>
            <a:ext cx="4400539" cy="5867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85192"/>
            <a:ext cx="6223638" cy="504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Demo &amp; Results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69971" y="1310283"/>
            <a:ext cx="683322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b="1" spc="-27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Workflow: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62748" y="1730970"/>
            <a:ext cx="19050" cy="3500735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7" name="Shape 4"/>
          <p:cNvSpPr/>
          <p:nvPr/>
        </p:nvSpPr>
        <p:spPr>
          <a:xfrm>
            <a:off x="5636526" y="1914227"/>
            <a:ext cx="514238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8" name="Shape 5"/>
          <p:cNvSpPr/>
          <p:nvPr/>
        </p:nvSpPr>
        <p:spPr>
          <a:xfrm>
            <a:off x="5269922" y="1730970"/>
            <a:ext cx="385654" cy="385663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41705" y="1772493"/>
            <a:ext cx="241988" cy="302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19878" y="1789807"/>
            <a:ext cx="5173732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Upload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319878" y="2130227"/>
            <a:ext cx="51737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uploads a healthcare PDF document.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36526" y="2863056"/>
            <a:ext cx="514238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3" name="Shape 10"/>
          <p:cNvSpPr/>
          <p:nvPr/>
        </p:nvSpPr>
        <p:spPr>
          <a:xfrm>
            <a:off x="5269922" y="2679799"/>
            <a:ext cx="385654" cy="385663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41705" y="2721322"/>
            <a:ext cx="241988" cy="302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319878" y="2738636"/>
            <a:ext cx="5173732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Query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319878" y="3079055"/>
            <a:ext cx="51737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User asks a natural language question.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636526" y="3811885"/>
            <a:ext cx="514238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8" name="Shape 15"/>
          <p:cNvSpPr/>
          <p:nvPr/>
        </p:nvSpPr>
        <p:spPr>
          <a:xfrm>
            <a:off x="5269922" y="3628628"/>
            <a:ext cx="385654" cy="385663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1705" y="3670151"/>
            <a:ext cx="241988" cy="302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319878" y="3687465"/>
            <a:ext cx="5173732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Retrieve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319878" y="4027884"/>
            <a:ext cx="51737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System retrieves relevant document sections.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36526" y="4760714"/>
            <a:ext cx="514238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23" name="Shape 20"/>
          <p:cNvSpPr/>
          <p:nvPr/>
        </p:nvSpPr>
        <p:spPr>
          <a:xfrm>
            <a:off x="5269922" y="4577457"/>
            <a:ext cx="385654" cy="385663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41705" y="4618980"/>
            <a:ext cx="241988" cy="3025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6319878" y="4636294"/>
            <a:ext cx="5173732" cy="252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Answer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6319878" y="4976713"/>
            <a:ext cx="517373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AI generates a context-based answer.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269971" y="5397401"/>
            <a:ext cx="6223638" cy="875308"/>
          </a:xfrm>
          <a:prstGeom prst="roundRect">
            <a:avLst>
              <a:gd name="adj" fmla="val 8226"/>
            </a:avLst>
          </a:prstGeom>
          <a:solidFill>
            <a:srgbClr val="B6D6FC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318" y="5608836"/>
            <a:ext cx="214208" cy="17135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826872" y="5587405"/>
            <a:ext cx="5495391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300" i="1" spc="-27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Note: HealthDocs-RAG is designed for educational and document-analysis purposes only. It is not a medical diagnosis or treatment system.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18766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Conclusion &amp; Future Improvements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554520" y="1804591"/>
            <a:ext cx="5441615" cy="3025775"/>
          </a:xfrm>
          <a:prstGeom prst="roundRect">
            <a:avLst>
              <a:gd name="adj" fmla="val 4747"/>
            </a:avLst>
          </a:prstGeom>
          <a:solidFill>
            <a:srgbClr val="3371A5"/>
          </a:solidFill>
          <a:ln/>
        </p:spPr>
      </p:sp>
      <p:sp>
        <p:nvSpPr>
          <p:cNvPr id="4" name="Text 2"/>
          <p:cNvSpPr/>
          <p:nvPr/>
        </p:nvSpPr>
        <p:spPr>
          <a:xfrm>
            <a:off x="753944" y="2004020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What We've Built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53944" y="2496741"/>
            <a:ext cx="5042766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HealthDocs-RAG demonstrates how RAG combines document retrieval and large language models to provide relevant, context-based answers from healthcare documents.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345476" y="2004020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5476" y="2496741"/>
            <a:ext cx="5154484" cy="2263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Support for multiple documents simultaneously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Additional file formats (DOCX, TXT, images)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Improved retrieval accuracy and ranking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 citations and document references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Conversation history and context memory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Multilingual support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98086" y="5129510"/>
            <a:ext cx="10795524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10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Thank You! Questions &amp; Answers</a:t>
            </a:r>
            <a:endParaRPr lang="en-US" sz="5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2026-09-07T13:59:46Z</dcterms:created>
  <dcterms:modified xsi:type="dcterms:W3CDTF">2026-09-07T13:59:46Z</dcterms:modified>
</cp:coreProperties>
</file>